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65" r:id="rId7"/>
    <p:sldId id="258" r:id="rId8"/>
    <p:sldId id="259" r:id="rId9"/>
    <p:sldId id="260" r:id="rId10"/>
    <p:sldId id="261" r:id="rId11"/>
    <p:sldId id="264" r:id="rId12"/>
  </p:sldIdLst>
  <p:sldSz cx="12192000" cy="6858000"/>
  <p:notesSz cx="6858000" cy="9144000"/>
  <p:embeddedFontLst>
    <p:embeddedFont>
      <p:font typeface="Urbanist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font" Target="fonts/font4.fntdata"/><Relationship Id="rId18" Type="http://schemas.openxmlformats.org/officeDocument/2006/relationships/font" Target="fonts/font3.fntdata"/><Relationship Id="rId17" Type="http://schemas.openxmlformats.org/officeDocument/2006/relationships/font" Target="fonts/font2.fntdata"/><Relationship Id="rId16" Type="http://schemas.openxmlformats.org/officeDocument/2006/relationships/font" Target="fonts/font1.fntdata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90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1" name="Google Shape;101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4" name="Google Shape;114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0" name="Google Shape;130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0" name="Google Shape;170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6477000" y="-3810000"/>
            <a:ext cx="7620000" cy="76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-1905000" y="3048000"/>
            <a:ext cx="7620000" cy="76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95300" y="2313682"/>
            <a:ext cx="11201400" cy="1114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OI Trainer </a:t>
            </a:r>
            <a:r>
              <a:rPr lang="en-US" sz="975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3D</a:t>
            </a:r>
            <a:endParaRPr lang="en-US" sz="9750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62000" y="3713857"/>
            <a:ext cx="10668000" cy="639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Migration to Immersive 3D Environments</a:t>
            </a:r>
            <a:endParaRPr lang="en-US" sz="3600" b="0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62000" y="2632620"/>
            <a:ext cx="5048250" cy="3832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6381750" y="2632620"/>
            <a:ext cx="5048250" cy="383262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1257300" y="3127920"/>
            <a:ext cx="426053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75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Immersive Scene</a:t>
            </a:r>
            <a:endParaRPr lang="en-US" sz="3375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1257300" y="3966120"/>
            <a:ext cx="4057650" cy="1813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Migrate the 2D UI-only game into a first-person 3D classroom with spatial interaction.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6877050" y="3127920"/>
            <a:ext cx="426053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75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Logic Retention</a:t>
            </a:r>
            <a:endParaRPr lang="en-US" sz="3375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6877050" y="3966120"/>
            <a:ext cx="4057650" cy="1813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Keep the original legacy gameplay logic intact by hosting it on a 3D whiteboard.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762000" y="1394370"/>
            <a:ext cx="11201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Core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Objectives</a:t>
            </a:r>
            <a:endParaRPr lang="en-US" sz="6000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/>
          <p:cNvSpPr txBox="1"/>
          <p:nvPr/>
        </p:nvSpPr>
        <p:spPr>
          <a:xfrm>
            <a:off x="762000" y="310425"/>
            <a:ext cx="11201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Results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&amp; Demo</a:t>
            </a:r>
            <a:endParaRPr lang="en-US" sz="6000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2" name="Picture 1" descr="Screenshot 2025-12-31 at 00-26-55 OI Trainer 3D - AC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700" y="1345565"/>
            <a:ext cx="9906000" cy="46742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/>
          <p:cNvSpPr txBox="1"/>
          <p:nvPr/>
        </p:nvSpPr>
        <p:spPr>
          <a:xfrm>
            <a:off x="762000" y="310425"/>
            <a:ext cx="11201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Results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&amp; Demo</a:t>
            </a:r>
            <a:endParaRPr lang="en-US" sz="6000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1" name="Picture 0" descr="Screenshot From 2025-12-31 00-28-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280" y="1510030"/>
            <a:ext cx="8726805" cy="4908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/>
        </p:nvSpPr>
        <p:spPr>
          <a:xfrm>
            <a:off x="1333500" y="2785020"/>
            <a:ext cx="100965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Graphics:</a:t>
            </a: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Fully modeled 3D classroom.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1333500" y="3579286"/>
            <a:ext cx="10096500" cy="4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Animation:</a:t>
            </a: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Character kinematics and dynamic camera movement.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1333500" y="4278362"/>
            <a:ext cx="10096500" cy="4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Dynamics:</a:t>
            </a: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Real-time student pressure flames and AC wind simulation.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1333500" y="5455592"/>
            <a:ext cx="10096500" cy="4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UI:</a:t>
            </a: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Full 3D whiteboard interaction system with legacy HUD parity.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107" name="Google Shape;107;p1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62000" y="2870745"/>
            <a:ext cx="3619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62000" y="3665011"/>
            <a:ext cx="2286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62000" y="4364087"/>
            <a:ext cx="3143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62000" y="5541317"/>
            <a:ext cx="4095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762000" y="1394370"/>
            <a:ext cx="11201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What have we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accomplished?</a:t>
            </a:r>
            <a:endParaRPr lang="en-US" sz="6000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62000" y="4119413"/>
            <a:ext cx="1905000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3682900" y="4119413"/>
            <a:ext cx="1905000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603801" y="3981301"/>
            <a:ext cx="1905000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9524702" y="4119413"/>
            <a:ext cx="1905000" cy="10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762000" y="2956470"/>
            <a:ext cx="10668000" cy="4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Mechanism: </a:t>
            </a:r>
            <a:r>
              <a:rPr lang="en-US" sz="255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simulateClick</a:t>
            </a: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routes 3D Raycasts to DOM elements.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762000" y="5914876"/>
            <a:ext cx="10668000" cy="1143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1047750" y="6200626"/>
            <a:ext cx="10096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Arial"/>
                <a:ea typeface="Arial"/>
                <a:cs typeface="Arial"/>
                <a:sym typeface="Arial"/>
              </a:rPr>
              <a:t>const elementUnderPointer = document.elementFromPoint(clientX, clientY);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>
                <a:solidFill>
                  <a:srgbClr val="DAFFDE"/>
                </a:solidFill>
                <a:latin typeface="Arial"/>
                <a:ea typeface="Arial"/>
                <a:cs typeface="Arial"/>
                <a:sym typeface="Arial"/>
              </a:rPr>
              <a:t> elementUnderPointer.dispatchEvent(new MouseEvent("click", { ... }));</a:t>
            </a:r>
            <a:endParaRPr lang="en-US" sz="1650" b="0" i="0" u="none" strike="noStrike" cap="none">
              <a:solidFill>
                <a:srgbClr val="DAFFD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762000" y="5914876"/>
            <a:ext cx="76200" cy="11430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16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3008262" y="4471838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5929163" y="4471838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8850064" y="447183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762000" y="1394370"/>
            <a:ext cx="11201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Tech: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Interactive Whiteboard</a:t>
            </a:r>
            <a:endParaRPr lang="en-US" sz="6000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6381750" y="2632620"/>
            <a:ext cx="5048250" cy="35433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7"/>
          <p:cNvSpPr txBox="1"/>
          <p:nvPr/>
        </p:nvSpPr>
        <p:spPr>
          <a:xfrm>
            <a:off x="762000" y="3402359"/>
            <a:ext cx="5048250" cy="906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Standard raycasting scales linearly with triangle count </a:t>
            </a:r>
            <a:r>
              <a:rPr lang="en-US" sz="255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O(N)</a:t>
            </a: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4" name="Google Shape;134;p17"/>
          <p:cNvSpPr txBox="1"/>
          <p:nvPr/>
        </p:nvSpPr>
        <p:spPr>
          <a:xfrm>
            <a:off x="762000" y="4632870"/>
            <a:ext cx="5048250" cy="1646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We use </a:t>
            </a:r>
            <a:r>
              <a:rPr lang="en-US" sz="255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three-mesh-bvh</a:t>
            </a: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to reduce expected picking time to </a:t>
            </a:r>
            <a:r>
              <a:rPr lang="en-US" sz="255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O(log N)</a:t>
            </a: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6775608" y="3127920"/>
            <a:ext cx="426053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75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BVH Hierarchy</a:t>
            </a:r>
            <a:endParaRPr lang="en-US" sz="3375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136" name="Google Shape;136;p17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477125" y="3737520"/>
            <a:ext cx="2857500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 txBox="1"/>
          <p:nvPr/>
        </p:nvSpPr>
        <p:spPr>
          <a:xfrm>
            <a:off x="762000" y="1394370"/>
            <a:ext cx="11201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Tech: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Picking Acceleration</a:t>
            </a:r>
            <a:endParaRPr lang="en-US" sz="6000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8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62000" y="2632620"/>
            <a:ext cx="5048250" cy="3832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8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6381750" y="2632620"/>
            <a:ext cx="5048250" cy="3832621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8"/>
          <p:cNvSpPr txBox="1"/>
          <p:nvPr/>
        </p:nvSpPr>
        <p:spPr>
          <a:xfrm>
            <a:off x="1257300" y="3127920"/>
            <a:ext cx="426053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75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Asset Prefetch</a:t>
            </a:r>
            <a:endParaRPr lang="en-US" sz="3375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5" name="Google Shape;145;p18"/>
          <p:cNvSpPr txBox="1"/>
          <p:nvPr/>
        </p:nvSpPr>
        <p:spPr>
          <a:xfrm>
            <a:off x="1257300" y="3966120"/>
            <a:ext cx="4057650" cy="1646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Network loading manager pre-loads GLB models to prevent long waiting time.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6" name="Google Shape;146;p18"/>
          <p:cNvSpPr txBox="1"/>
          <p:nvPr/>
        </p:nvSpPr>
        <p:spPr>
          <a:xfrm>
            <a:off x="6877050" y="3127920"/>
            <a:ext cx="426053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75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DOM Persistence</a:t>
            </a:r>
            <a:endParaRPr lang="en-US" sz="3375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7" name="Google Shape;147;p18"/>
          <p:cNvSpPr txBox="1"/>
          <p:nvPr/>
        </p:nvSpPr>
        <p:spPr>
          <a:xfrm>
            <a:off x="6877050" y="3966120"/>
            <a:ext cx="4057650" cy="1646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On-demand regeneration of the whiteboard root avoids DOM tracking bug.</a:t>
            </a:r>
            <a:endParaRPr lang="en-US" sz="2550" b="0" i="0" u="none" strike="noStrike" cap="non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8" name="Google Shape;148;p18"/>
          <p:cNvSpPr txBox="1"/>
          <p:nvPr/>
        </p:nvSpPr>
        <p:spPr>
          <a:xfrm>
            <a:off x="762000" y="1394370"/>
            <a:ext cx="11201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Stability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Architecture</a:t>
            </a:r>
            <a:endParaRPr lang="en-US" sz="6000" b="1" i="0" u="none" strike="noStrike" cap="none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1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6477000" y="-3810000"/>
            <a:ext cx="7620000" cy="76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1"/>
          <p:cNvSpPr txBox="1"/>
          <p:nvPr/>
        </p:nvSpPr>
        <p:spPr>
          <a:xfrm>
            <a:off x="495300" y="2299394"/>
            <a:ext cx="11201400" cy="1153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Thanks for listening!</a:t>
            </a:r>
            <a:endParaRPr lang="en-US" sz="7500" b="1" i="0" u="none" strike="noStrike" cap="none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1157</Words>
  <Application>WPS Presentation</Application>
  <PresentationFormat/>
  <Paragraphs>54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2" baseType="lpstr">
      <vt:lpstr>Arial</vt:lpstr>
      <vt:lpstr>SimSun</vt:lpstr>
      <vt:lpstr>Wingdings</vt:lpstr>
      <vt:lpstr>Arial</vt:lpstr>
      <vt:lpstr>Liberation Sans</vt:lpstr>
      <vt:lpstr>Calibri</vt:lpstr>
      <vt:lpstr>Urbanist</vt:lpstr>
      <vt:lpstr>C059</vt:lpstr>
      <vt:lpstr>Microsoft YaHei</vt:lpstr>
      <vt:lpstr>Noto Sans CJK SC</vt:lpstr>
      <vt:lpstr>Arial Unicode MS</vt:lpstr>
      <vt:lpstr>Noto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ldq</cp:lastModifiedBy>
  <cp:revision>7</cp:revision>
  <dcterms:created xsi:type="dcterms:W3CDTF">2025-12-30T16:45:42Z</dcterms:created>
  <dcterms:modified xsi:type="dcterms:W3CDTF">2025-12-30T16:45:42Z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